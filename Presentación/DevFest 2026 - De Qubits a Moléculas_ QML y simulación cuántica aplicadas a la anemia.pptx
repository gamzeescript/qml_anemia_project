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Assistant Medium"/>
      <p:regular r:id="rId24"/>
      <p:bold r:id="rId25"/>
    </p:embeddedFont>
    <p:embeddedFont>
      <p:font typeface="Assistant SemiBold"/>
      <p:regular r:id="rId26"/>
      <p:bold r:id="rId27"/>
    </p:embeddedFont>
    <p:embeddedFont>
      <p:font typeface="Anaheim"/>
      <p:regular r:id="rId28"/>
      <p:bold r:id="rId29"/>
    </p:embeddedFont>
    <p:embeddedFont>
      <p:font typeface="Assistant"/>
      <p:regular r:id="rId30"/>
      <p:bold r:id="rId31"/>
    </p:embeddedFont>
    <p:embeddedFont>
      <p:font typeface="Coda"/>
      <p:regular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AssistantMedium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AssistantSemiBold-regular.fntdata"/><Relationship Id="rId25" Type="http://schemas.openxmlformats.org/officeDocument/2006/relationships/font" Target="fonts/AssistantMedium-bold.fntdata"/><Relationship Id="rId28" Type="http://schemas.openxmlformats.org/officeDocument/2006/relationships/font" Target="fonts/Anaheim-regular.fntdata"/><Relationship Id="rId27" Type="http://schemas.openxmlformats.org/officeDocument/2006/relationships/font" Target="fonts/Assistant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Anaheim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Assistant-bold.fntdata"/><Relationship Id="rId30" Type="http://schemas.openxmlformats.org/officeDocument/2006/relationships/font" Target="fonts/Assistant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Coda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ed5d2ff45b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ed5d2ff45b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h3e6f6590a83e189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h3e6f6590a83e18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1ed5b760b6a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1ed5b760b6a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1ed75f95cf8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1ed75f95cf8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8a5f240bab59b83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h18a5f240bab59b8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h18a5f240bab59b83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h18a5f240bab59b83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1ed75f95cf8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1ed75f95cf8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1ed75f95cf8_1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1ed75f95cf8_1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ed5b760b6a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ed5b760b6a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h18a5f240bab59b83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h18a5f240bab59b83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1ed5b760b6a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1ed5b760b6a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18a5f240bab59b8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h18a5f240bab59b8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ed75f95cf8_1_2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ed75f95cf8_1_2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ed5b760b6a_0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ed5b760b6a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ed5b760b6a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1ed5b760b6a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ed75f95cf8_1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ed75f95cf8_1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1ed75f95cf8_1_280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1ed75f95cf8_1_280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1ed75f95cf8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1ed75f95cf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Relationship Id="rId4" Type="http://schemas.openxmlformats.org/officeDocument/2006/relationships/hyperlink" Target="https://bit.ly/3A1uf1Q" TargetMode="External"/><Relationship Id="rId5" Type="http://schemas.openxmlformats.org/officeDocument/2006/relationships/hyperlink" Target="http://bit.ly/2TyoMsr" TargetMode="External"/><Relationship Id="rId6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5721" l="5708" r="6070" t="5713"/>
          <a:stretch/>
        </p:blipFill>
        <p:spPr>
          <a:xfrm rot="5400000">
            <a:off x="-850850" y="851500"/>
            <a:ext cx="5142200" cy="344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ctrTitle"/>
          </p:nvPr>
        </p:nvSpPr>
        <p:spPr>
          <a:xfrm>
            <a:off x="3595675" y="1986350"/>
            <a:ext cx="4835100" cy="2182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95675" y="4168550"/>
            <a:ext cx="48351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/>
          <p:cNvPicPr preferRelativeResize="0"/>
          <p:nvPr/>
        </p:nvPicPr>
        <p:blipFill rotWithShape="1">
          <a:blip r:embed="rId2">
            <a:alphaModFix/>
          </a:blip>
          <a:srcRect b="-10860" l="41273" r="0" t="10860"/>
          <a:stretch/>
        </p:blipFill>
        <p:spPr>
          <a:xfrm rot="5400000">
            <a:off x="3643126" y="-357376"/>
            <a:ext cx="5153172" cy="584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264098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22632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1102425" y="2119738"/>
            <a:ext cx="3928500" cy="144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3"/>
          <p:cNvSpPr txBox="1"/>
          <p:nvPr>
            <p:ph hasCustomPrompt="1" idx="2" type="title"/>
          </p:nvPr>
        </p:nvSpPr>
        <p:spPr>
          <a:xfrm>
            <a:off x="2240625" y="1280038"/>
            <a:ext cx="1652100" cy="915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1102425" y="3564663"/>
            <a:ext cx="39285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4"/>
          <p:cNvGrpSpPr/>
          <p:nvPr/>
        </p:nvGrpSpPr>
        <p:grpSpPr>
          <a:xfrm>
            <a:off x="5018673" y="0"/>
            <a:ext cx="4125326" cy="5143501"/>
            <a:chOff x="5018673" y="0"/>
            <a:chExt cx="4125326" cy="5143501"/>
          </a:xfrm>
        </p:grpSpPr>
        <p:pic>
          <p:nvPicPr>
            <p:cNvPr id="21" name="Google Shape;21;p4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5018673" y="0"/>
              <a:ext cx="3659254" cy="51434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Google Shape;23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720000" y="1167318"/>
            <a:ext cx="7704000" cy="3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Char char="●"/>
              <a:defRPr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5"/>
          <p:cNvPicPr preferRelativeResize="0"/>
          <p:nvPr/>
        </p:nvPicPr>
        <p:blipFill rotWithShape="1">
          <a:blip r:embed="rId2">
            <a:alphaModFix/>
          </a:blip>
          <a:srcRect b="44568" l="0" r="0" t="25362"/>
          <a:stretch/>
        </p:blipFill>
        <p:spPr>
          <a:xfrm rot="10800000">
            <a:off x="-2" y="550"/>
            <a:ext cx="9164052" cy="183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5"/>
          <p:cNvPicPr preferRelativeResize="0"/>
          <p:nvPr/>
        </p:nvPicPr>
        <p:blipFill rotWithShape="1">
          <a:blip r:embed="rId3">
            <a:alphaModFix/>
          </a:blip>
          <a:srcRect b="0" l="39766" r="0" t="0"/>
          <a:stretch/>
        </p:blipFill>
        <p:spPr>
          <a:xfrm flipH="1" rot="-5400000">
            <a:off x="3485125" y="-3472100"/>
            <a:ext cx="2204051" cy="9174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5400000">
            <a:off x="2757525" y="-2218025"/>
            <a:ext cx="3659250" cy="917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5021599" y="1930425"/>
            <a:ext cx="2505600" cy="67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1" name="Google Shape;31;p5"/>
          <p:cNvSpPr txBox="1"/>
          <p:nvPr>
            <p:ph idx="2" type="subTitle"/>
          </p:nvPr>
        </p:nvSpPr>
        <p:spPr>
          <a:xfrm>
            <a:off x="1616801" y="3811725"/>
            <a:ext cx="2505600" cy="67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" name="Google Shape;32;p5"/>
          <p:cNvSpPr txBox="1"/>
          <p:nvPr>
            <p:ph idx="3" type="subTitle"/>
          </p:nvPr>
        </p:nvSpPr>
        <p:spPr>
          <a:xfrm>
            <a:off x="5021588" y="1528025"/>
            <a:ext cx="2505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4" type="subTitle"/>
          </p:nvPr>
        </p:nvSpPr>
        <p:spPr>
          <a:xfrm>
            <a:off x="1616801" y="3409325"/>
            <a:ext cx="2505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6"/>
          <p:cNvGrpSpPr/>
          <p:nvPr/>
        </p:nvGrpSpPr>
        <p:grpSpPr>
          <a:xfrm>
            <a:off x="0" y="-9675"/>
            <a:ext cx="1683876" cy="5153174"/>
            <a:chOff x="0" y="-9675"/>
            <a:chExt cx="1683876" cy="5153174"/>
          </a:xfrm>
        </p:grpSpPr>
        <p:pic>
          <p:nvPicPr>
            <p:cNvPr id="36" name="Google Shape;36;p6"/>
            <p:cNvPicPr preferRelativeResize="0"/>
            <p:nvPr/>
          </p:nvPicPr>
          <p:blipFill rotWithShape="1">
            <a:blip r:embed="rId2">
              <a:alphaModFix/>
            </a:blip>
            <a:srcRect b="29381" l="27337" r="13936" t="46145"/>
            <a:stretch/>
          </p:blipFill>
          <p:spPr>
            <a:xfrm flipH="1" rot="-5400000">
              <a:off x="-1860912" y="1851237"/>
              <a:ext cx="5153172" cy="143134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37;p6"/>
            <p:cNvPicPr preferRelativeResize="0"/>
            <p:nvPr/>
          </p:nvPicPr>
          <p:blipFill rotWithShape="1">
            <a:blip r:embed="rId3">
              <a:alphaModFix/>
            </a:blip>
            <a:srcRect b="0" l="20902" r="36044" t="0"/>
            <a:stretch/>
          </p:blipFill>
          <p:spPr>
            <a:xfrm>
              <a:off x="0" y="0"/>
              <a:ext cx="1481850" cy="51434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38;p6"/>
            <p:cNvPicPr preferRelativeResize="0"/>
            <p:nvPr/>
          </p:nvPicPr>
          <p:blipFill rotWithShape="1">
            <a:blip r:embed="rId3">
              <a:alphaModFix/>
            </a:blip>
            <a:srcRect b="0" l="15034" r="36042" t="0"/>
            <a:stretch/>
          </p:blipFill>
          <p:spPr>
            <a:xfrm>
              <a:off x="0" y="0"/>
              <a:ext cx="1683876" cy="514349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9" name="Google Shape;39;p6"/>
          <p:cNvPicPr preferRelativeResize="0"/>
          <p:nvPr/>
        </p:nvPicPr>
        <p:blipFill rotWithShape="1">
          <a:blip r:embed="rId3">
            <a:alphaModFix/>
          </a:blip>
          <a:srcRect b="0" l="10396" r="36045" t="0"/>
          <a:stretch/>
        </p:blipFill>
        <p:spPr>
          <a:xfrm>
            <a:off x="0" y="0"/>
            <a:ext cx="184345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7"/>
          <p:cNvGrpSpPr/>
          <p:nvPr/>
        </p:nvGrpSpPr>
        <p:grpSpPr>
          <a:xfrm>
            <a:off x="6650150" y="0"/>
            <a:ext cx="2908624" cy="5143501"/>
            <a:chOff x="6650150" y="0"/>
            <a:chExt cx="2908624" cy="5143501"/>
          </a:xfrm>
        </p:grpSpPr>
        <p:pic>
          <p:nvPicPr>
            <p:cNvPr id="43" name="Google Shape;43;p7"/>
            <p:cNvPicPr preferRelativeResize="0"/>
            <p:nvPr/>
          </p:nvPicPr>
          <p:blipFill rotWithShape="1">
            <a:blip r:embed="rId2">
              <a:alphaModFix/>
            </a:blip>
            <a:srcRect b="0" l="29748" r="41058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Google Shape;44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6650150" y="0"/>
              <a:ext cx="2908624" cy="51434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" name="Google Shape;45;p7"/>
          <p:cNvSpPr txBox="1"/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subTitle"/>
          </p:nvPr>
        </p:nvSpPr>
        <p:spPr>
          <a:xfrm>
            <a:off x="2424600" y="1727375"/>
            <a:ext cx="4294800" cy="212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b="19071" l="22817" r="22817" t="26563"/>
          <a:stretch/>
        </p:blipFill>
        <p:spPr>
          <a:xfrm flipH="1" rot="-5400000">
            <a:off x="4862787" y="853813"/>
            <a:ext cx="5137951" cy="3424474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8"/>
          <p:cNvSpPr txBox="1"/>
          <p:nvPr>
            <p:ph type="title"/>
          </p:nvPr>
        </p:nvSpPr>
        <p:spPr>
          <a:xfrm>
            <a:off x="1092475" y="1307100"/>
            <a:ext cx="41073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9"/>
          <p:cNvPicPr preferRelativeResize="0"/>
          <p:nvPr/>
        </p:nvPicPr>
        <p:blipFill rotWithShape="1">
          <a:blip r:embed="rId2">
            <a:alphaModFix/>
          </a:blip>
          <a:srcRect b="5882" l="0" r="0" t="31743"/>
          <a:stretch/>
        </p:blipFill>
        <p:spPr>
          <a:xfrm rot="10800000">
            <a:off x="-2" y="548"/>
            <a:ext cx="9164052" cy="3810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5400000">
            <a:off x="2757525" y="-2218025"/>
            <a:ext cx="3659250" cy="9174301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9"/>
          <p:cNvSpPr txBox="1"/>
          <p:nvPr>
            <p:ph type="title"/>
          </p:nvPr>
        </p:nvSpPr>
        <p:spPr>
          <a:xfrm>
            <a:off x="2135550" y="2523293"/>
            <a:ext cx="4872900" cy="10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4" name="Google Shape;54;p9"/>
          <p:cNvSpPr txBox="1"/>
          <p:nvPr>
            <p:ph idx="1" type="subTitle"/>
          </p:nvPr>
        </p:nvSpPr>
        <p:spPr>
          <a:xfrm>
            <a:off x="2135550" y="3645107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type="title"/>
          </p:nvPr>
        </p:nvSpPr>
        <p:spPr>
          <a:xfrm>
            <a:off x="1653725" y="4014450"/>
            <a:ext cx="58365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1"/>
          <p:cNvPicPr preferRelativeResize="0"/>
          <p:nvPr/>
        </p:nvPicPr>
        <p:blipFill rotWithShape="1">
          <a:blip r:embed="rId2">
            <a:alphaModFix/>
          </a:blip>
          <a:srcRect b="-10860" l="41273" r="0" t="10860"/>
          <a:stretch/>
        </p:blipFill>
        <p:spPr>
          <a:xfrm flipH="1" rot="-5400000">
            <a:off x="271499" y="-357376"/>
            <a:ext cx="5153172" cy="584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6246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2221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1"/>
          <p:cNvSpPr txBox="1"/>
          <p:nvPr>
            <p:ph hasCustomPrompt="1" type="title"/>
          </p:nvPr>
        </p:nvSpPr>
        <p:spPr>
          <a:xfrm>
            <a:off x="3844375" y="1723725"/>
            <a:ext cx="4586400" cy="1163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60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1"/>
          <p:cNvSpPr txBox="1"/>
          <p:nvPr>
            <p:ph idx="1" type="subTitle"/>
          </p:nvPr>
        </p:nvSpPr>
        <p:spPr>
          <a:xfrm>
            <a:off x="3844375" y="2922675"/>
            <a:ext cx="45864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3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9" name="Google Shape;69;p13"/>
          <p:cNvSpPr txBox="1"/>
          <p:nvPr>
            <p:ph idx="1" type="subTitle"/>
          </p:nvPr>
        </p:nvSpPr>
        <p:spPr>
          <a:xfrm>
            <a:off x="872376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2" type="subTitle"/>
          </p:nvPr>
        </p:nvSpPr>
        <p:spPr>
          <a:xfrm>
            <a:off x="3419247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3" type="subTitle"/>
          </p:nvPr>
        </p:nvSpPr>
        <p:spPr>
          <a:xfrm>
            <a:off x="872376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4" type="subTitle"/>
          </p:nvPr>
        </p:nvSpPr>
        <p:spPr>
          <a:xfrm>
            <a:off x="3419247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5" type="subTitle"/>
          </p:nvPr>
        </p:nvSpPr>
        <p:spPr>
          <a:xfrm>
            <a:off x="5966124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6" type="subTitle"/>
          </p:nvPr>
        </p:nvSpPr>
        <p:spPr>
          <a:xfrm>
            <a:off x="5966124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hasCustomPrompt="1" idx="7" type="title"/>
          </p:nvPr>
        </p:nvSpPr>
        <p:spPr>
          <a:xfrm>
            <a:off x="1657776" y="1212951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3"/>
          <p:cNvSpPr txBox="1"/>
          <p:nvPr>
            <p:ph hasCustomPrompt="1" idx="8" type="title"/>
          </p:nvPr>
        </p:nvSpPr>
        <p:spPr>
          <a:xfrm>
            <a:off x="1657776" y="2806589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7" name="Google Shape;77;p13"/>
          <p:cNvSpPr txBox="1"/>
          <p:nvPr>
            <p:ph hasCustomPrompt="1" idx="9" type="title"/>
          </p:nvPr>
        </p:nvSpPr>
        <p:spPr>
          <a:xfrm>
            <a:off x="4204647" y="1212951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/>
          <p:nvPr>
            <p:ph hasCustomPrompt="1" idx="13" type="title"/>
          </p:nvPr>
        </p:nvSpPr>
        <p:spPr>
          <a:xfrm>
            <a:off x="4204647" y="2806589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/>
          <p:nvPr>
            <p:ph hasCustomPrompt="1" idx="14" type="title"/>
          </p:nvPr>
        </p:nvSpPr>
        <p:spPr>
          <a:xfrm>
            <a:off x="6751524" y="1212951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0" name="Google Shape;80;p13"/>
          <p:cNvSpPr txBox="1"/>
          <p:nvPr>
            <p:ph hasCustomPrompt="1" idx="15" type="title"/>
          </p:nvPr>
        </p:nvSpPr>
        <p:spPr>
          <a:xfrm>
            <a:off x="6751524" y="2806589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/>
          <p:nvPr>
            <p:ph idx="16" type="subTitle"/>
          </p:nvPr>
        </p:nvSpPr>
        <p:spPr>
          <a:xfrm>
            <a:off x="872376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idx="17" type="subTitle"/>
          </p:nvPr>
        </p:nvSpPr>
        <p:spPr>
          <a:xfrm>
            <a:off x="3419247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18" type="subTitle"/>
          </p:nvPr>
        </p:nvSpPr>
        <p:spPr>
          <a:xfrm>
            <a:off x="5966124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19" type="subTitle"/>
          </p:nvPr>
        </p:nvSpPr>
        <p:spPr>
          <a:xfrm>
            <a:off x="872376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85" name="Google Shape;85;p13"/>
          <p:cNvSpPr txBox="1"/>
          <p:nvPr>
            <p:ph idx="20" type="subTitle"/>
          </p:nvPr>
        </p:nvSpPr>
        <p:spPr>
          <a:xfrm>
            <a:off x="3419247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21" type="subTitle"/>
          </p:nvPr>
        </p:nvSpPr>
        <p:spPr>
          <a:xfrm>
            <a:off x="5966124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pic>
        <p:nvPicPr>
          <p:cNvPr id="87" name="Google Shape;8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>
            <a:off x="1487106" y="3015326"/>
            <a:ext cx="6169800" cy="5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90" name="Google Shape;90;p14"/>
          <p:cNvSpPr txBox="1"/>
          <p:nvPr>
            <p:ph idx="1" type="subTitle"/>
          </p:nvPr>
        </p:nvSpPr>
        <p:spPr>
          <a:xfrm>
            <a:off x="1487094" y="1041463"/>
            <a:ext cx="6169800" cy="1863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pic>
        <p:nvPicPr>
          <p:cNvPr id="91" name="Google Shape;91;p14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79326" y="-89825"/>
            <a:ext cx="985348" cy="916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/>
          <p:cNvPicPr preferRelativeResize="0"/>
          <p:nvPr/>
        </p:nvPicPr>
        <p:blipFill rotWithShape="1">
          <a:blip r:embed="rId2">
            <a:alphaModFix/>
          </a:blip>
          <a:srcRect b="15286" l="6240" r="6240" t="30123"/>
          <a:stretch/>
        </p:blipFill>
        <p:spPr>
          <a:xfrm rot="5400000">
            <a:off x="-1500862" y="1506606"/>
            <a:ext cx="5137756" cy="2136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-12600" y="1"/>
            <a:ext cx="2366277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1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pic>
        <p:nvPicPr>
          <p:cNvPr id="100" name="Google Shape;100;p16"/>
          <p:cNvPicPr preferRelativeResize="0"/>
          <p:nvPr/>
        </p:nvPicPr>
        <p:blipFill rotWithShape="1">
          <a:blip r:embed="rId2">
            <a:alphaModFix/>
          </a:blip>
          <a:srcRect b="52462" l="0" r="1254" t="18072"/>
          <a:stretch/>
        </p:blipFill>
        <p:spPr>
          <a:xfrm>
            <a:off x="0" y="3325075"/>
            <a:ext cx="9143997" cy="1818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_ONLY_1_1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7"/>
          <p:cNvPicPr preferRelativeResize="0"/>
          <p:nvPr/>
        </p:nvPicPr>
        <p:blipFill rotWithShape="1">
          <a:blip r:embed="rId2">
            <a:alphaModFix/>
          </a:blip>
          <a:srcRect b="27588" l="6395" r="34878" t="32161"/>
          <a:stretch/>
        </p:blipFill>
        <p:spPr>
          <a:xfrm rot="5400000">
            <a:off x="5390363" y="1389862"/>
            <a:ext cx="5153172" cy="2354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/>
          <p:cNvPicPr preferRelativeResize="0"/>
          <p:nvPr/>
        </p:nvPicPr>
        <p:blipFill rotWithShape="1">
          <a:blip r:embed="rId3">
            <a:alphaModFix/>
          </a:blip>
          <a:srcRect b="0" l="35695" r="0" t="0"/>
          <a:stretch/>
        </p:blipFill>
        <p:spPr>
          <a:xfrm flipH="1">
            <a:off x="6718725" y="0"/>
            <a:ext cx="2425275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8"/>
          <p:cNvPicPr preferRelativeResize="0"/>
          <p:nvPr/>
        </p:nvPicPr>
        <p:blipFill rotWithShape="1">
          <a:blip r:embed="rId2">
            <a:alphaModFix/>
          </a:blip>
          <a:srcRect b="1530" l="41273" r="0" t="58219"/>
          <a:stretch/>
        </p:blipFill>
        <p:spPr>
          <a:xfrm flipH="1" rot="-5400000">
            <a:off x="-1399538" y="1389862"/>
            <a:ext cx="5153172" cy="2354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" y="0"/>
            <a:ext cx="2496425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8"/>
          <p:cNvSpPr txBox="1"/>
          <p:nvPr>
            <p:ph type="title"/>
          </p:nvPr>
        </p:nvSpPr>
        <p:spPr>
          <a:xfrm>
            <a:off x="879325" y="1183380"/>
            <a:ext cx="3519600" cy="1813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09" name="Google Shape;109;p18"/>
          <p:cNvSpPr txBox="1"/>
          <p:nvPr>
            <p:ph idx="1" type="subTitle"/>
          </p:nvPr>
        </p:nvSpPr>
        <p:spPr>
          <a:xfrm>
            <a:off x="879325" y="2997120"/>
            <a:ext cx="3519600" cy="9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8"/>
          <p:cNvSpPr/>
          <p:nvPr>
            <p:ph idx="2" type="pic"/>
          </p:nvPr>
        </p:nvSpPr>
        <p:spPr>
          <a:xfrm>
            <a:off x="4902275" y="880200"/>
            <a:ext cx="3362400" cy="33831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 txBox="1"/>
          <p:nvPr>
            <p:ph type="title"/>
          </p:nvPr>
        </p:nvSpPr>
        <p:spPr>
          <a:xfrm>
            <a:off x="2449050" y="539500"/>
            <a:ext cx="4245900" cy="66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3" name="Google Shape;113;p19"/>
          <p:cNvSpPr txBox="1"/>
          <p:nvPr>
            <p:ph idx="1" type="subTitle"/>
          </p:nvPr>
        </p:nvSpPr>
        <p:spPr>
          <a:xfrm>
            <a:off x="2449050" y="1207300"/>
            <a:ext cx="4245900" cy="66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14" name="Google Shape;114;p19"/>
          <p:cNvGrpSpPr/>
          <p:nvPr/>
        </p:nvGrpSpPr>
        <p:grpSpPr>
          <a:xfrm>
            <a:off x="6492099" y="0"/>
            <a:ext cx="2651899" cy="5143501"/>
            <a:chOff x="6492099" y="0"/>
            <a:chExt cx="2651899" cy="5143501"/>
          </a:xfrm>
        </p:grpSpPr>
        <p:pic>
          <p:nvPicPr>
            <p:cNvPr id="115" name="Google Shape;115;p19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6492099" y="0"/>
              <a:ext cx="2185825" cy="51434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4032962" y="1547103"/>
            <a:ext cx="3593400" cy="74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idx="1" type="subTitle"/>
          </p:nvPr>
        </p:nvSpPr>
        <p:spPr>
          <a:xfrm>
            <a:off x="4032962" y="2289600"/>
            <a:ext cx="3593400" cy="8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0" name="Google Shape;120;p20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TITLE_AND_BODY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21"/>
          <p:cNvGrpSpPr/>
          <p:nvPr/>
        </p:nvGrpSpPr>
        <p:grpSpPr>
          <a:xfrm>
            <a:off x="5018673" y="0"/>
            <a:ext cx="4125326" cy="5143501"/>
            <a:chOff x="5018673" y="0"/>
            <a:chExt cx="4125326" cy="5143501"/>
          </a:xfrm>
        </p:grpSpPr>
        <p:pic>
          <p:nvPicPr>
            <p:cNvPr id="124" name="Google Shape;124;p21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" name="Google Shape;125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5018673" y="0"/>
              <a:ext cx="3659254" cy="514349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26" name="Google Shape;126;p21"/>
          <p:cNvPicPr preferRelativeResize="0"/>
          <p:nvPr/>
        </p:nvPicPr>
        <p:blipFill rotWithShape="1">
          <a:blip r:embed="rId3">
            <a:alphaModFix/>
          </a:blip>
          <a:srcRect b="0" l="-1636" r="0" t="0"/>
          <a:stretch/>
        </p:blipFill>
        <p:spPr>
          <a:xfrm flipH="1">
            <a:off x="554357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8" name="Google Shape;128;p21"/>
          <p:cNvSpPr txBox="1"/>
          <p:nvPr>
            <p:ph idx="1" type="body"/>
          </p:nvPr>
        </p:nvSpPr>
        <p:spPr>
          <a:xfrm>
            <a:off x="720000" y="1167379"/>
            <a:ext cx="7704000" cy="343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Char char="●"/>
              <a:defRPr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TITLE_AND_BODY_1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2"/>
          <p:cNvPicPr preferRelativeResize="0"/>
          <p:nvPr/>
        </p:nvPicPr>
        <p:blipFill rotWithShape="1">
          <a:blip r:embed="rId2">
            <a:alphaModFix/>
          </a:blip>
          <a:srcRect b="15286" l="6240" r="6240" t="30123"/>
          <a:stretch/>
        </p:blipFill>
        <p:spPr>
          <a:xfrm rot="-5400000">
            <a:off x="5494507" y="1500862"/>
            <a:ext cx="5137756" cy="2136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6777725" y="2"/>
            <a:ext cx="2366277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720000" y="1167356"/>
            <a:ext cx="7704000" cy="163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Char char="●"/>
              <a:defRPr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3"/>
          <p:cNvPicPr preferRelativeResize="0"/>
          <p:nvPr/>
        </p:nvPicPr>
        <p:blipFill rotWithShape="1">
          <a:blip r:embed="rId2">
            <a:alphaModFix/>
          </a:blip>
          <a:srcRect b="0" l="0" r="70806" t="0"/>
          <a:stretch/>
        </p:blipFill>
        <p:spPr>
          <a:xfrm>
            <a:off x="6891025" y="0"/>
            <a:ext cx="22529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01867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01867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9" name="Google Shape;139;p23"/>
          <p:cNvSpPr txBox="1"/>
          <p:nvPr>
            <p:ph idx="1" type="subTitle"/>
          </p:nvPr>
        </p:nvSpPr>
        <p:spPr>
          <a:xfrm>
            <a:off x="5181724" y="3099625"/>
            <a:ext cx="2586900" cy="11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2" type="subTitle"/>
          </p:nvPr>
        </p:nvSpPr>
        <p:spPr>
          <a:xfrm>
            <a:off x="1375350" y="2261425"/>
            <a:ext cx="2586900" cy="11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23"/>
          <p:cNvSpPr txBox="1"/>
          <p:nvPr>
            <p:ph idx="3" type="subTitle"/>
          </p:nvPr>
        </p:nvSpPr>
        <p:spPr>
          <a:xfrm>
            <a:off x="1375360" y="1702525"/>
            <a:ext cx="25869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42" name="Google Shape;142;p23"/>
          <p:cNvSpPr txBox="1"/>
          <p:nvPr>
            <p:ph idx="4" type="subTitle"/>
          </p:nvPr>
        </p:nvSpPr>
        <p:spPr>
          <a:xfrm>
            <a:off x="5181738" y="2540725"/>
            <a:ext cx="25869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45" name="Google Shape;145;p24"/>
          <p:cNvSpPr txBox="1"/>
          <p:nvPr>
            <p:ph idx="1" type="subTitle"/>
          </p:nvPr>
        </p:nvSpPr>
        <p:spPr>
          <a:xfrm>
            <a:off x="1905300" y="3098314"/>
            <a:ext cx="5333400" cy="11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4"/>
          <p:cNvSpPr txBox="1"/>
          <p:nvPr>
            <p:ph idx="2" type="subTitle"/>
          </p:nvPr>
        </p:nvSpPr>
        <p:spPr>
          <a:xfrm>
            <a:off x="1905300" y="1624684"/>
            <a:ext cx="5333400" cy="11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7" name="Google Shape;147;p24"/>
          <p:cNvPicPr preferRelativeResize="0"/>
          <p:nvPr/>
        </p:nvPicPr>
        <p:blipFill rotWithShape="1">
          <a:blip r:embed="rId2">
            <a:alphaModFix/>
          </a:blip>
          <a:srcRect b="39291" l="17623" r="15724" t="16901"/>
          <a:stretch/>
        </p:blipFill>
        <p:spPr>
          <a:xfrm rot="5400000">
            <a:off x="-1458063" y="1446012"/>
            <a:ext cx="5143900" cy="2253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25"/>
          <p:cNvPicPr preferRelativeResize="0"/>
          <p:nvPr/>
        </p:nvPicPr>
        <p:blipFill rotWithShape="1">
          <a:blip r:embed="rId2">
            <a:alphaModFix/>
          </a:blip>
          <a:srcRect b="0" l="0" r="70806" t="0"/>
          <a:stretch/>
        </p:blipFill>
        <p:spPr>
          <a:xfrm flipH="1">
            <a:off x="-37390" y="0"/>
            <a:ext cx="22529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257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907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53" name="Google Shape;153;p25"/>
          <p:cNvSpPr txBox="1"/>
          <p:nvPr>
            <p:ph idx="1" type="subTitle"/>
          </p:nvPr>
        </p:nvSpPr>
        <p:spPr>
          <a:xfrm>
            <a:off x="937625" y="2332395"/>
            <a:ext cx="21753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25"/>
          <p:cNvSpPr txBox="1"/>
          <p:nvPr>
            <p:ph idx="2" type="subTitle"/>
          </p:nvPr>
        </p:nvSpPr>
        <p:spPr>
          <a:xfrm>
            <a:off x="3484347" y="3322995"/>
            <a:ext cx="21753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25"/>
          <p:cNvSpPr txBox="1"/>
          <p:nvPr>
            <p:ph idx="3" type="subTitle"/>
          </p:nvPr>
        </p:nvSpPr>
        <p:spPr>
          <a:xfrm>
            <a:off x="6031075" y="2332395"/>
            <a:ext cx="21753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5"/>
          <p:cNvSpPr txBox="1"/>
          <p:nvPr>
            <p:ph idx="4" type="subTitle"/>
          </p:nvPr>
        </p:nvSpPr>
        <p:spPr>
          <a:xfrm>
            <a:off x="937625" y="1676879"/>
            <a:ext cx="21753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57" name="Google Shape;157;p25"/>
          <p:cNvSpPr txBox="1"/>
          <p:nvPr>
            <p:ph idx="5" type="subTitle"/>
          </p:nvPr>
        </p:nvSpPr>
        <p:spPr>
          <a:xfrm>
            <a:off x="3484350" y="2667479"/>
            <a:ext cx="21753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58" name="Google Shape;158;p25"/>
          <p:cNvSpPr txBox="1"/>
          <p:nvPr>
            <p:ph idx="6" type="subTitle"/>
          </p:nvPr>
        </p:nvSpPr>
        <p:spPr>
          <a:xfrm>
            <a:off x="6031075" y="1676879"/>
            <a:ext cx="21753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61" name="Google Shape;161;p26"/>
          <p:cNvSpPr txBox="1"/>
          <p:nvPr>
            <p:ph idx="1" type="subTitle"/>
          </p:nvPr>
        </p:nvSpPr>
        <p:spPr>
          <a:xfrm>
            <a:off x="2891511" y="1906591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26"/>
          <p:cNvSpPr txBox="1"/>
          <p:nvPr>
            <p:ph idx="2" type="subTitle"/>
          </p:nvPr>
        </p:nvSpPr>
        <p:spPr>
          <a:xfrm>
            <a:off x="5657064" y="1906591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6"/>
          <p:cNvSpPr txBox="1"/>
          <p:nvPr>
            <p:ph idx="3" type="subTitle"/>
          </p:nvPr>
        </p:nvSpPr>
        <p:spPr>
          <a:xfrm>
            <a:off x="1508736" y="3244666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26"/>
          <p:cNvSpPr txBox="1"/>
          <p:nvPr>
            <p:ph idx="4" type="subTitle"/>
          </p:nvPr>
        </p:nvSpPr>
        <p:spPr>
          <a:xfrm>
            <a:off x="4274289" y="3244666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26"/>
          <p:cNvSpPr txBox="1"/>
          <p:nvPr>
            <p:ph idx="5" type="subTitle"/>
          </p:nvPr>
        </p:nvSpPr>
        <p:spPr>
          <a:xfrm>
            <a:off x="2891511" y="14703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66" name="Google Shape;166;p26"/>
          <p:cNvSpPr txBox="1"/>
          <p:nvPr>
            <p:ph idx="6" type="subTitle"/>
          </p:nvPr>
        </p:nvSpPr>
        <p:spPr>
          <a:xfrm>
            <a:off x="1508736" y="2808550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67" name="Google Shape;167;p26"/>
          <p:cNvSpPr txBox="1"/>
          <p:nvPr>
            <p:ph idx="7" type="subTitle"/>
          </p:nvPr>
        </p:nvSpPr>
        <p:spPr>
          <a:xfrm>
            <a:off x="5657061" y="14703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68" name="Google Shape;168;p26"/>
          <p:cNvSpPr txBox="1"/>
          <p:nvPr>
            <p:ph idx="8" type="subTitle"/>
          </p:nvPr>
        </p:nvSpPr>
        <p:spPr>
          <a:xfrm>
            <a:off x="4274286" y="2808550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pic>
        <p:nvPicPr>
          <p:cNvPr id="169" name="Google Shape;169;p26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79326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7"/>
          <p:cNvPicPr preferRelativeResize="0"/>
          <p:nvPr/>
        </p:nvPicPr>
        <p:blipFill rotWithShape="1">
          <a:blip r:embed="rId2">
            <a:alphaModFix/>
          </a:blip>
          <a:srcRect b="18357" l="349" r="0" t="19268"/>
          <a:stretch/>
        </p:blipFill>
        <p:spPr>
          <a:xfrm rot="5400000">
            <a:off x="-1525114" y="1490063"/>
            <a:ext cx="5169577" cy="215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7"/>
          <p:cNvPicPr preferRelativeResize="0"/>
          <p:nvPr/>
        </p:nvPicPr>
        <p:blipFill rotWithShape="1">
          <a:blip r:embed="rId3">
            <a:alphaModFix/>
          </a:blip>
          <a:srcRect b="666" l="0" r="0" t="0"/>
          <a:stretch/>
        </p:blipFill>
        <p:spPr>
          <a:xfrm flipH="1" rot="10800000">
            <a:off x="143775" y="-5852"/>
            <a:ext cx="2071576" cy="515915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6" name="Google Shape;176;p27"/>
          <p:cNvSpPr txBox="1"/>
          <p:nvPr>
            <p:ph idx="1" type="subTitle"/>
          </p:nvPr>
        </p:nvSpPr>
        <p:spPr>
          <a:xfrm>
            <a:off x="1108627" y="2091836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7"/>
          <p:cNvSpPr txBox="1"/>
          <p:nvPr>
            <p:ph idx="2" type="subTitle"/>
          </p:nvPr>
        </p:nvSpPr>
        <p:spPr>
          <a:xfrm>
            <a:off x="3579000" y="2091836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7"/>
          <p:cNvSpPr txBox="1"/>
          <p:nvPr>
            <p:ph idx="3" type="subTitle"/>
          </p:nvPr>
        </p:nvSpPr>
        <p:spPr>
          <a:xfrm>
            <a:off x="1108627" y="3423350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7"/>
          <p:cNvSpPr txBox="1"/>
          <p:nvPr>
            <p:ph idx="4" type="subTitle"/>
          </p:nvPr>
        </p:nvSpPr>
        <p:spPr>
          <a:xfrm>
            <a:off x="3579000" y="3423350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27"/>
          <p:cNvSpPr txBox="1"/>
          <p:nvPr>
            <p:ph idx="5" type="subTitle"/>
          </p:nvPr>
        </p:nvSpPr>
        <p:spPr>
          <a:xfrm>
            <a:off x="6049373" y="2091836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27"/>
          <p:cNvSpPr txBox="1"/>
          <p:nvPr>
            <p:ph idx="6" type="subTitle"/>
          </p:nvPr>
        </p:nvSpPr>
        <p:spPr>
          <a:xfrm>
            <a:off x="6049373" y="3423350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7"/>
          <p:cNvSpPr txBox="1"/>
          <p:nvPr>
            <p:ph idx="7" type="subTitle"/>
          </p:nvPr>
        </p:nvSpPr>
        <p:spPr>
          <a:xfrm>
            <a:off x="1109527" y="165965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3" name="Google Shape;183;p27"/>
          <p:cNvSpPr txBox="1"/>
          <p:nvPr>
            <p:ph idx="8" type="subTitle"/>
          </p:nvPr>
        </p:nvSpPr>
        <p:spPr>
          <a:xfrm>
            <a:off x="3579900" y="165965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4" name="Google Shape;184;p27"/>
          <p:cNvSpPr txBox="1"/>
          <p:nvPr>
            <p:ph idx="9" type="subTitle"/>
          </p:nvPr>
        </p:nvSpPr>
        <p:spPr>
          <a:xfrm>
            <a:off x="6050273" y="165965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5" name="Google Shape;185;p27"/>
          <p:cNvSpPr txBox="1"/>
          <p:nvPr>
            <p:ph idx="13" type="subTitle"/>
          </p:nvPr>
        </p:nvSpPr>
        <p:spPr>
          <a:xfrm>
            <a:off x="1109527" y="299114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6" name="Google Shape;186;p27"/>
          <p:cNvSpPr txBox="1"/>
          <p:nvPr>
            <p:ph idx="14" type="subTitle"/>
          </p:nvPr>
        </p:nvSpPr>
        <p:spPr>
          <a:xfrm>
            <a:off x="3579900" y="299114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7" name="Google Shape;187;p27"/>
          <p:cNvSpPr txBox="1"/>
          <p:nvPr>
            <p:ph idx="15" type="subTitle"/>
          </p:nvPr>
        </p:nvSpPr>
        <p:spPr>
          <a:xfrm>
            <a:off x="6050273" y="299114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>
            <p:ph hasCustomPrompt="1" type="title"/>
          </p:nvPr>
        </p:nvSpPr>
        <p:spPr>
          <a:xfrm>
            <a:off x="3014700" y="613734"/>
            <a:ext cx="46968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45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/>
          <p:nvPr>
            <p:ph idx="1" type="subTitle"/>
          </p:nvPr>
        </p:nvSpPr>
        <p:spPr>
          <a:xfrm>
            <a:off x="3014700" y="1226454"/>
            <a:ext cx="4696800" cy="5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1" name="Google Shape;191;p28"/>
          <p:cNvSpPr txBox="1"/>
          <p:nvPr>
            <p:ph hasCustomPrompt="1" idx="2" type="title"/>
          </p:nvPr>
        </p:nvSpPr>
        <p:spPr>
          <a:xfrm>
            <a:off x="3014700" y="1965990"/>
            <a:ext cx="46968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45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2" name="Google Shape;192;p28"/>
          <p:cNvSpPr txBox="1"/>
          <p:nvPr>
            <p:ph idx="3" type="subTitle"/>
          </p:nvPr>
        </p:nvSpPr>
        <p:spPr>
          <a:xfrm>
            <a:off x="3014700" y="2578710"/>
            <a:ext cx="4696800" cy="5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3" name="Google Shape;193;p28"/>
          <p:cNvSpPr txBox="1"/>
          <p:nvPr>
            <p:ph hasCustomPrompt="1" idx="4" type="title"/>
          </p:nvPr>
        </p:nvSpPr>
        <p:spPr>
          <a:xfrm>
            <a:off x="3014700" y="3318246"/>
            <a:ext cx="46968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45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4" name="Google Shape;194;p28"/>
          <p:cNvSpPr txBox="1"/>
          <p:nvPr>
            <p:ph idx="5" type="subTitle"/>
          </p:nvPr>
        </p:nvSpPr>
        <p:spPr>
          <a:xfrm>
            <a:off x="3014700" y="3930966"/>
            <a:ext cx="4696800" cy="5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95" name="Google Shape;195;p28"/>
          <p:cNvPicPr preferRelativeResize="0"/>
          <p:nvPr/>
        </p:nvPicPr>
        <p:blipFill rotWithShape="1">
          <a:blip r:embed="rId2">
            <a:alphaModFix/>
          </a:blip>
          <a:srcRect b="30225" l="30221" r="30383" t="30225"/>
          <a:stretch/>
        </p:blipFill>
        <p:spPr>
          <a:xfrm rot="5400000">
            <a:off x="-850850" y="851500"/>
            <a:ext cx="5142200" cy="344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/>
          <p:nvPr>
            <p:ph type="title"/>
          </p:nvPr>
        </p:nvSpPr>
        <p:spPr>
          <a:xfrm>
            <a:off x="2099094" y="539500"/>
            <a:ext cx="4945800" cy="1058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98" name="Google Shape;198;p29"/>
          <p:cNvSpPr txBox="1"/>
          <p:nvPr>
            <p:ph idx="1" type="subTitle"/>
          </p:nvPr>
        </p:nvSpPr>
        <p:spPr>
          <a:xfrm>
            <a:off x="2099108" y="1513050"/>
            <a:ext cx="4945800" cy="12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9" name="Google Shape;199;p29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14725" y="25825"/>
            <a:ext cx="1134599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9"/>
          <p:cNvSpPr txBox="1"/>
          <p:nvPr/>
        </p:nvSpPr>
        <p:spPr>
          <a:xfrm>
            <a:off x="2099092" y="2751591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, and includes icons by </a:t>
            </a:r>
            <a:r>
              <a:rPr lang="en" sz="1200" u="sng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sz="1200" u="sng">
              <a:solidFill>
                <a:schemeClr val="dk1"/>
              </a:solidFill>
              <a:latin typeface="Coda"/>
              <a:ea typeface="Coda"/>
              <a:cs typeface="Coda"/>
              <a:sym typeface="Coda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30"/>
          <p:cNvPicPr preferRelativeResize="0"/>
          <p:nvPr/>
        </p:nvPicPr>
        <p:blipFill rotWithShape="1">
          <a:blip r:embed="rId2">
            <a:alphaModFix/>
          </a:blip>
          <a:srcRect b="-21538" l="17495" r="26807" t="37142"/>
          <a:stretch/>
        </p:blipFill>
        <p:spPr>
          <a:xfrm>
            <a:off x="0" y="0"/>
            <a:ext cx="50931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31"/>
          <p:cNvGrpSpPr/>
          <p:nvPr/>
        </p:nvGrpSpPr>
        <p:grpSpPr>
          <a:xfrm>
            <a:off x="5018673" y="0"/>
            <a:ext cx="4125326" cy="5143501"/>
            <a:chOff x="5018673" y="0"/>
            <a:chExt cx="4125326" cy="5143501"/>
          </a:xfrm>
        </p:grpSpPr>
        <p:pic>
          <p:nvPicPr>
            <p:cNvPr id="206" name="Google Shape;206;p31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7" name="Google Shape;207;p3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5018673" y="0"/>
              <a:ext cx="3659254" cy="51434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theme" Target="../theme/theme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 txBox="1"/>
          <p:nvPr>
            <p:ph type="ctrTitle"/>
          </p:nvPr>
        </p:nvSpPr>
        <p:spPr>
          <a:xfrm>
            <a:off x="3318475" y="1986350"/>
            <a:ext cx="5112300" cy="2182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/>
              <a:t>De Qubits a Moléculas: </a:t>
            </a:r>
            <a:r>
              <a:rPr lang="en" sz="3700"/>
              <a:t>QML y simulación cuántica aplicadas a la anemia</a:t>
            </a:r>
            <a:endParaRPr sz="3700"/>
          </a:p>
        </p:txBody>
      </p:sp>
      <p:sp>
        <p:nvSpPr>
          <p:cNvPr id="213" name="Google Shape;213;p32"/>
          <p:cNvSpPr txBox="1"/>
          <p:nvPr>
            <p:ph idx="1" type="subTitle"/>
          </p:nvPr>
        </p:nvSpPr>
        <p:spPr>
          <a:xfrm>
            <a:off x="3595675" y="4168550"/>
            <a:ext cx="48351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Computación cuántica aplicada a un escenario medico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>
            <p:ph idx="4294967295" type="title"/>
          </p:nvPr>
        </p:nvSpPr>
        <p:spPr>
          <a:xfrm>
            <a:off x="1611675" y="39065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¿Por qué computación Cuántica?</a:t>
            </a:r>
            <a:endParaRPr/>
          </a:p>
        </p:txBody>
      </p:sp>
      <p:sp>
        <p:nvSpPr>
          <p:cNvPr id="219" name="Google Shape;219;p33"/>
          <p:cNvSpPr txBox="1"/>
          <p:nvPr>
            <p:ph idx="4294967295" type="body"/>
          </p:nvPr>
        </p:nvSpPr>
        <p:spPr>
          <a:xfrm>
            <a:off x="2257000" y="1421501"/>
            <a:ext cx="4377600" cy="30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Es la dirección en la que se mueve la industria.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Baja la barrera de entrada a la computación cuántica.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Conección con la IA</a:t>
            </a:r>
            <a:endParaRPr/>
          </a:p>
        </p:txBody>
      </p:sp>
      <p:pic>
        <p:nvPicPr>
          <p:cNvPr id="220" name="Google Shape;22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3650" y="3484400"/>
            <a:ext cx="2614026" cy="147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4"/>
          <p:cNvSpPr txBox="1"/>
          <p:nvPr>
            <p:ph type="title"/>
          </p:nvPr>
        </p:nvSpPr>
        <p:spPr>
          <a:xfrm>
            <a:off x="716450" y="1068151"/>
            <a:ext cx="5518800" cy="216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Aprendiendo de Computación cuántica mientras construimos un modelo sobre la molécula de Hierro</a:t>
            </a:r>
            <a:endParaRPr sz="2800"/>
          </a:p>
        </p:txBody>
      </p:sp>
      <p:sp>
        <p:nvSpPr>
          <p:cNvPr id="226" name="Google Shape;226;p34"/>
          <p:cNvSpPr txBox="1"/>
          <p:nvPr>
            <p:ph idx="1" type="subTitle"/>
          </p:nvPr>
        </p:nvSpPr>
        <p:spPr>
          <a:xfrm>
            <a:off x="1102425" y="3564663"/>
            <a:ext cx="39285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Clasificación y simulación de la anemia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 anemia no es una sola enfermedad</a:t>
            </a:r>
            <a:endParaRPr/>
          </a:p>
        </p:txBody>
      </p:sp>
      <p:sp>
        <p:nvSpPr>
          <p:cNvPr id="232" name="Google Shape;232;p35"/>
          <p:cNvSpPr txBox="1"/>
          <p:nvPr>
            <p:ph idx="1" type="subTitle"/>
          </p:nvPr>
        </p:nvSpPr>
        <p:spPr>
          <a:xfrm>
            <a:off x="2891500" y="1906600"/>
            <a:ext cx="2581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 b en disminución y VCM pequeños y pálidos - falta de hierro </a:t>
            </a:r>
            <a:endParaRPr/>
          </a:p>
        </p:txBody>
      </p:sp>
      <p:sp>
        <p:nvSpPr>
          <p:cNvPr id="233" name="Google Shape;233;p35"/>
          <p:cNvSpPr txBox="1"/>
          <p:nvPr>
            <p:ph idx="2" type="subTitle"/>
          </p:nvPr>
        </p:nvSpPr>
        <p:spPr>
          <a:xfrm>
            <a:off x="5657082" y="1906600"/>
            <a:ext cx="33615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/>
              <a:t>h b en disminución y VCM pequeños y pálidos  -  Cadenas α/β desbalanceadas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5"/>
          <p:cNvSpPr txBox="1"/>
          <p:nvPr>
            <p:ph idx="3" type="subTitle"/>
          </p:nvPr>
        </p:nvSpPr>
        <p:spPr>
          <a:xfrm>
            <a:off x="1508722" y="3244675"/>
            <a:ext cx="24996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hb en disminución y VCM tamaño anormal y prematuro - Déficit de B12 o folato</a:t>
            </a:r>
            <a:endParaRPr/>
          </a:p>
        </p:txBody>
      </p:sp>
      <p:sp>
        <p:nvSpPr>
          <p:cNvPr id="235" name="Google Shape;235;p35"/>
          <p:cNvSpPr txBox="1"/>
          <p:nvPr>
            <p:ph idx="4" type="subTitle"/>
          </p:nvPr>
        </p:nvSpPr>
        <p:spPr>
          <a:xfrm>
            <a:off x="4274302" y="3244675"/>
            <a:ext cx="23001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/>
              <a:t>h b y VCM  normales sin embargo es una mutación Glu6Val en la cadena β</a:t>
            </a:r>
            <a:endParaRPr/>
          </a:p>
        </p:txBody>
      </p:sp>
      <p:sp>
        <p:nvSpPr>
          <p:cNvPr id="236" name="Google Shape;236;p35"/>
          <p:cNvSpPr txBox="1"/>
          <p:nvPr>
            <p:ph idx="5" type="subTitle"/>
          </p:nvPr>
        </p:nvSpPr>
        <p:spPr>
          <a:xfrm>
            <a:off x="2891511" y="14703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Ferropenica</a:t>
            </a:r>
            <a:endParaRPr/>
          </a:p>
        </p:txBody>
      </p:sp>
      <p:sp>
        <p:nvSpPr>
          <p:cNvPr id="237" name="Google Shape;237;p35"/>
          <p:cNvSpPr txBox="1"/>
          <p:nvPr>
            <p:ph idx="6" type="subTitle"/>
          </p:nvPr>
        </p:nvSpPr>
        <p:spPr>
          <a:xfrm>
            <a:off x="1508723" y="2808550"/>
            <a:ext cx="2390700" cy="43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Megaloblastica</a:t>
            </a:r>
            <a:endParaRPr/>
          </a:p>
        </p:txBody>
      </p:sp>
      <p:sp>
        <p:nvSpPr>
          <p:cNvPr id="238" name="Google Shape;238;p35"/>
          <p:cNvSpPr txBox="1"/>
          <p:nvPr>
            <p:ph idx="7" type="subTitle"/>
          </p:nvPr>
        </p:nvSpPr>
        <p:spPr>
          <a:xfrm>
            <a:off x="5657061" y="14703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Talasemia</a:t>
            </a:r>
            <a:endParaRPr/>
          </a:p>
        </p:txBody>
      </p:sp>
      <p:sp>
        <p:nvSpPr>
          <p:cNvPr id="239" name="Google Shape;239;p35"/>
          <p:cNvSpPr txBox="1"/>
          <p:nvPr>
            <p:ph idx="8" type="subTitle"/>
          </p:nvPr>
        </p:nvSpPr>
        <p:spPr>
          <a:xfrm>
            <a:off x="4274286" y="2808550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Falciforme</a:t>
            </a:r>
            <a:endParaRPr/>
          </a:p>
        </p:txBody>
      </p:sp>
      <p:pic>
        <p:nvPicPr>
          <p:cNvPr id="240" name="Google Shape;240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000" y="1305050"/>
            <a:ext cx="1800500" cy="135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64798" y="2655428"/>
            <a:ext cx="2027964" cy="1350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Puertas Cuánticas</a:t>
            </a:r>
            <a:endParaRPr/>
          </a:p>
        </p:txBody>
      </p:sp>
      <p:sp>
        <p:nvSpPr>
          <p:cNvPr id="247" name="Google Shape;247;p36"/>
          <p:cNvSpPr txBox="1"/>
          <p:nvPr>
            <p:ph idx="2" type="subTitle"/>
          </p:nvPr>
        </p:nvSpPr>
        <p:spPr>
          <a:xfrm>
            <a:off x="1735875" y="4541325"/>
            <a:ext cx="6774600" cy="4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 algoritmo </a:t>
            </a:r>
            <a:r>
              <a:rPr lang="en"/>
              <a:t>híbrido</a:t>
            </a:r>
            <a:r>
              <a:rPr lang="en"/>
              <a:t>: circuito parametrizado + optimizador clásico (era NISQ).</a:t>
            </a:r>
            <a:endParaRPr/>
          </a:p>
        </p:txBody>
      </p:sp>
      <p:pic>
        <p:nvPicPr>
          <p:cNvPr id="248" name="Google Shape;24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6413" y="1170125"/>
            <a:ext cx="5150080" cy="321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4825" y="1799687"/>
            <a:ext cx="3348150" cy="154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5400" y="1799675"/>
            <a:ext cx="3393200" cy="149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Cuello de botella clásico</a:t>
            </a:r>
            <a:endParaRPr/>
          </a:p>
        </p:txBody>
      </p:sp>
      <p:sp>
        <p:nvSpPr>
          <p:cNvPr id="260" name="Google Shape;260;p38"/>
          <p:cNvSpPr txBox="1"/>
          <p:nvPr>
            <p:ph idx="1" type="subTitle"/>
          </p:nvPr>
        </p:nvSpPr>
        <p:spPr>
          <a:xfrm>
            <a:off x="5181725" y="3099625"/>
            <a:ext cx="2586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Proyectar los datos a un espacio de Hilbert de dimensión 2ⁿ.</a:t>
            </a:r>
            <a:endParaRPr/>
          </a:p>
        </p:txBody>
      </p:sp>
      <p:sp>
        <p:nvSpPr>
          <p:cNvPr id="261" name="Google Shape;261;p38"/>
          <p:cNvSpPr txBox="1"/>
          <p:nvPr>
            <p:ph idx="2" type="subTitle"/>
          </p:nvPr>
        </p:nvSpPr>
        <p:spPr>
          <a:xfrm>
            <a:off x="1375350" y="2261425"/>
            <a:ext cx="2586900" cy="11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Funciona muy bien, pero sufre con datos de muy alta dimensión.</a:t>
            </a:r>
            <a:endParaRPr/>
          </a:p>
        </p:txBody>
      </p:sp>
      <p:sp>
        <p:nvSpPr>
          <p:cNvPr id="262" name="Google Shape;262;p38"/>
          <p:cNvSpPr txBox="1"/>
          <p:nvPr>
            <p:ph idx="3" type="subTitle"/>
          </p:nvPr>
        </p:nvSpPr>
        <p:spPr>
          <a:xfrm>
            <a:off x="1012270" y="1702525"/>
            <a:ext cx="38064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SVM con kernel RBF</a:t>
            </a:r>
            <a:endParaRPr/>
          </a:p>
        </p:txBody>
      </p:sp>
      <p:sp>
        <p:nvSpPr>
          <p:cNvPr id="263" name="Google Shape;263;p38"/>
          <p:cNvSpPr txBox="1"/>
          <p:nvPr>
            <p:ph idx="4" type="subTitle"/>
          </p:nvPr>
        </p:nvSpPr>
        <p:spPr>
          <a:xfrm>
            <a:off x="5012328" y="2570725"/>
            <a:ext cx="33045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Kernel cuántico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map: de datos a estados cuánticos</a:t>
            </a:r>
            <a:endParaRPr/>
          </a:p>
        </p:txBody>
      </p:sp>
      <p:pic>
        <p:nvPicPr>
          <p:cNvPr id="269" name="Google Shape;26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5625" y="2021388"/>
            <a:ext cx="7704000" cy="838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31500" y="3360125"/>
            <a:ext cx="5591175" cy="105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/>
              <a:t>Anatomía del VQC: el bucle híbrido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40"/>
          <p:cNvSpPr txBox="1"/>
          <p:nvPr>
            <p:ph idx="3" type="subTitle"/>
          </p:nvPr>
        </p:nvSpPr>
        <p:spPr>
          <a:xfrm>
            <a:off x="872376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Entropía cruzada</a:t>
            </a:r>
            <a:endParaRPr sz="1600"/>
          </a:p>
        </p:txBody>
      </p:sp>
      <p:sp>
        <p:nvSpPr>
          <p:cNvPr id="277" name="Google Shape;277;p40"/>
          <p:cNvSpPr txBox="1"/>
          <p:nvPr>
            <p:ph idx="1" type="subTitle"/>
          </p:nvPr>
        </p:nvSpPr>
        <p:spPr>
          <a:xfrm>
            <a:off x="872376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ZFeatureMap o ZZFeatureMap</a:t>
            </a:r>
            <a:endParaRPr/>
          </a:p>
        </p:txBody>
      </p:sp>
      <p:sp>
        <p:nvSpPr>
          <p:cNvPr id="278" name="Google Shape;278;p40"/>
          <p:cNvSpPr txBox="1"/>
          <p:nvPr>
            <p:ph idx="2" type="subTitle"/>
          </p:nvPr>
        </p:nvSpPr>
        <p:spPr>
          <a:xfrm>
            <a:off x="3419247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RealAmplitudes o EfficientSU2 (θ)</a:t>
            </a:r>
            <a:endParaRPr/>
          </a:p>
        </p:txBody>
      </p:sp>
      <p:sp>
        <p:nvSpPr>
          <p:cNvPr id="279" name="Google Shape;279;p40"/>
          <p:cNvSpPr txBox="1"/>
          <p:nvPr>
            <p:ph idx="5" type="subTitle"/>
          </p:nvPr>
        </p:nvSpPr>
        <p:spPr>
          <a:xfrm>
            <a:off x="5966124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Sampler: probabilidades por clase</a:t>
            </a:r>
            <a:endParaRPr/>
          </a:p>
        </p:txBody>
      </p:sp>
      <p:sp>
        <p:nvSpPr>
          <p:cNvPr id="280" name="Google Shape;280;p40"/>
          <p:cNvSpPr txBox="1"/>
          <p:nvPr>
            <p:ph idx="6" type="subTitle"/>
          </p:nvPr>
        </p:nvSpPr>
        <p:spPr>
          <a:xfrm>
            <a:off x="5966124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Nuevos θ y se repite</a:t>
            </a:r>
            <a:endParaRPr/>
          </a:p>
        </p:txBody>
      </p:sp>
      <p:sp>
        <p:nvSpPr>
          <p:cNvPr id="281" name="Google Shape;281;p40"/>
          <p:cNvSpPr txBox="1"/>
          <p:nvPr>
            <p:ph idx="7" type="title"/>
          </p:nvPr>
        </p:nvSpPr>
        <p:spPr>
          <a:xfrm>
            <a:off x="1657776" y="1212951"/>
            <a:ext cx="734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82" name="Google Shape;282;p40"/>
          <p:cNvSpPr txBox="1"/>
          <p:nvPr>
            <p:ph idx="8" type="title"/>
          </p:nvPr>
        </p:nvSpPr>
        <p:spPr>
          <a:xfrm>
            <a:off x="1657776" y="2806589"/>
            <a:ext cx="734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83" name="Google Shape;283;p40"/>
          <p:cNvSpPr txBox="1"/>
          <p:nvPr>
            <p:ph idx="9" type="title"/>
          </p:nvPr>
        </p:nvSpPr>
        <p:spPr>
          <a:xfrm>
            <a:off x="4204647" y="1212951"/>
            <a:ext cx="734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84" name="Google Shape;284;p40"/>
          <p:cNvSpPr txBox="1"/>
          <p:nvPr>
            <p:ph idx="14" type="title"/>
          </p:nvPr>
        </p:nvSpPr>
        <p:spPr>
          <a:xfrm>
            <a:off x="6751524" y="1212951"/>
            <a:ext cx="734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85" name="Google Shape;285;p40"/>
          <p:cNvSpPr txBox="1"/>
          <p:nvPr>
            <p:ph idx="15" type="title"/>
          </p:nvPr>
        </p:nvSpPr>
        <p:spPr>
          <a:xfrm>
            <a:off x="6751524" y="2806589"/>
            <a:ext cx="734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286" name="Google Shape;286;p40"/>
          <p:cNvSpPr txBox="1"/>
          <p:nvPr>
            <p:ph idx="16" type="subTitle"/>
          </p:nvPr>
        </p:nvSpPr>
        <p:spPr>
          <a:xfrm>
            <a:off x="872376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map</a:t>
            </a:r>
            <a:endParaRPr/>
          </a:p>
        </p:txBody>
      </p:sp>
      <p:sp>
        <p:nvSpPr>
          <p:cNvPr id="287" name="Google Shape;287;p40"/>
          <p:cNvSpPr txBox="1"/>
          <p:nvPr>
            <p:ph idx="17" type="subTitle"/>
          </p:nvPr>
        </p:nvSpPr>
        <p:spPr>
          <a:xfrm>
            <a:off x="3419247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Ansatz</a:t>
            </a:r>
            <a:endParaRPr/>
          </a:p>
        </p:txBody>
      </p:sp>
      <p:sp>
        <p:nvSpPr>
          <p:cNvPr id="288" name="Google Shape;288;p40"/>
          <p:cNvSpPr txBox="1"/>
          <p:nvPr>
            <p:ph idx="18" type="subTitle"/>
          </p:nvPr>
        </p:nvSpPr>
        <p:spPr>
          <a:xfrm>
            <a:off x="5966124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Medición</a:t>
            </a:r>
            <a:endParaRPr/>
          </a:p>
        </p:txBody>
      </p:sp>
      <p:sp>
        <p:nvSpPr>
          <p:cNvPr id="289" name="Google Shape;289;p40"/>
          <p:cNvSpPr txBox="1"/>
          <p:nvPr>
            <p:ph idx="19" type="subTitle"/>
          </p:nvPr>
        </p:nvSpPr>
        <p:spPr>
          <a:xfrm>
            <a:off x="872376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Pérdida</a:t>
            </a:r>
            <a:endParaRPr/>
          </a:p>
        </p:txBody>
      </p:sp>
      <p:sp>
        <p:nvSpPr>
          <p:cNvPr id="290" name="Google Shape;290;p40"/>
          <p:cNvSpPr txBox="1"/>
          <p:nvPr>
            <p:ph idx="21" type="subTitle"/>
          </p:nvPr>
        </p:nvSpPr>
        <p:spPr>
          <a:xfrm>
            <a:off x="5966124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COBYLA</a:t>
            </a:r>
            <a:endParaRPr/>
          </a:p>
        </p:txBody>
      </p:sp>
      <p:pic>
        <p:nvPicPr>
          <p:cNvPr id="291" name="Google Shape;29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6592" y="2893774"/>
            <a:ext cx="2329536" cy="1543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1"/>
          <p:cNvSpPr txBox="1"/>
          <p:nvPr>
            <p:ph type="title"/>
          </p:nvPr>
        </p:nvSpPr>
        <p:spPr>
          <a:xfrm>
            <a:off x="716450" y="1068151"/>
            <a:ext cx="5518800" cy="216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DEMO 1</a:t>
            </a:r>
            <a:endParaRPr sz="2800"/>
          </a:p>
        </p:txBody>
      </p:sp>
      <p:sp>
        <p:nvSpPr>
          <p:cNvPr id="297" name="Google Shape;297;p41"/>
          <p:cNvSpPr txBox="1"/>
          <p:nvPr>
            <p:ph idx="1" type="subTitle"/>
          </p:nvPr>
        </p:nvSpPr>
        <p:spPr>
          <a:xfrm>
            <a:off x="1102425" y="3564663"/>
            <a:ext cx="39285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Diagnóstico con VQC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2"/>
          <p:cNvSpPr txBox="1"/>
          <p:nvPr>
            <p:ph type="title"/>
          </p:nvPr>
        </p:nvSpPr>
        <p:spPr>
          <a:xfrm>
            <a:off x="1901775" y="2264276"/>
            <a:ext cx="5518800" cy="8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DEMO 2</a:t>
            </a:r>
            <a:endParaRPr sz="2800"/>
          </a:p>
        </p:txBody>
      </p:sp>
      <p:sp>
        <p:nvSpPr>
          <p:cNvPr id="303" name="Google Shape;303;p42"/>
          <p:cNvSpPr txBox="1"/>
          <p:nvPr>
            <p:ph idx="4294967295" type="subTitle"/>
          </p:nvPr>
        </p:nvSpPr>
        <p:spPr>
          <a:xfrm>
            <a:off x="2696925" y="2983813"/>
            <a:ext cx="39285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 VQC vs SVM RBF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 anemia a nivel electrónico</a:t>
            </a:r>
            <a:endParaRPr/>
          </a:p>
        </p:txBody>
      </p:sp>
      <p:sp>
        <p:nvSpPr>
          <p:cNvPr id="309" name="Google Shape;309;p43"/>
          <p:cNvSpPr txBox="1"/>
          <p:nvPr/>
        </p:nvSpPr>
        <p:spPr>
          <a:xfrm>
            <a:off x="947538" y="2897126"/>
            <a:ext cx="2175300" cy="9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rPr>
              <a:t>Buscamos el estado fundamental: la configuración más estable.</a:t>
            </a:r>
            <a:endParaRPr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10" name="Google Shape;310;p43"/>
          <p:cNvSpPr txBox="1"/>
          <p:nvPr/>
        </p:nvSpPr>
        <p:spPr>
          <a:xfrm>
            <a:off x="5295477" y="1760925"/>
            <a:ext cx="33237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rPr>
              <a:t>Fe²⁺ fija y libera O₂ (cambio de espín).</a:t>
            </a:r>
            <a:endParaRPr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11" name="Google Shape;311;p43"/>
          <p:cNvSpPr txBox="1"/>
          <p:nvPr/>
        </p:nvSpPr>
        <p:spPr>
          <a:xfrm>
            <a:off x="5295477" y="3545025"/>
            <a:ext cx="34206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rPr>
              <a:t>Química del cobalto en la cobalamina.</a:t>
            </a:r>
            <a:endParaRPr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12" name="Google Shape;312;p43"/>
          <p:cNvSpPr txBox="1"/>
          <p:nvPr/>
        </p:nvSpPr>
        <p:spPr>
          <a:xfrm>
            <a:off x="3875263" y="1760925"/>
            <a:ext cx="14202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Hemo</a:t>
            </a:r>
            <a:endParaRPr sz="1700">
              <a:solidFill>
                <a:schemeClr val="dk1"/>
              </a:solidFill>
              <a:latin typeface="Coda"/>
              <a:ea typeface="Coda"/>
              <a:cs typeface="Coda"/>
              <a:sym typeface="Coda"/>
            </a:endParaRPr>
          </a:p>
        </p:txBody>
      </p:sp>
      <p:sp>
        <p:nvSpPr>
          <p:cNvPr id="313" name="Google Shape;313;p43"/>
          <p:cNvSpPr txBox="1"/>
          <p:nvPr/>
        </p:nvSpPr>
        <p:spPr>
          <a:xfrm>
            <a:off x="3875263" y="3545025"/>
            <a:ext cx="14202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Vitamina B12</a:t>
            </a:r>
            <a:endParaRPr sz="1700">
              <a:solidFill>
                <a:schemeClr val="dk1"/>
              </a:solidFill>
              <a:latin typeface="Coda"/>
              <a:ea typeface="Coda"/>
              <a:cs typeface="Coda"/>
              <a:sym typeface="Coda"/>
            </a:endParaRPr>
          </a:p>
        </p:txBody>
      </p:sp>
      <p:cxnSp>
        <p:nvCxnSpPr>
          <p:cNvPr id="314" name="Google Shape;314;p43"/>
          <p:cNvCxnSpPr>
            <a:stCxn id="315" idx="3"/>
            <a:endCxn id="312" idx="1"/>
          </p:cNvCxnSpPr>
          <p:nvPr/>
        </p:nvCxnSpPr>
        <p:spPr>
          <a:xfrm rot="-5400000">
            <a:off x="3040813" y="2172975"/>
            <a:ext cx="916500" cy="752400"/>
          </a:xfrm>
          <a:prstGeom prst="bentConnector2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316" name="Google Shape;316;p43"/>
          <p:cNvCxnSpPr>
            <a:stCxn id="315" idx="3"/>
            <a:endCxn id="313" idx="1"/>
          </p:cNvCxnSpPr>
          <p:nvPr/>
        </p:nvCxnSpPr>
        <p:spPr>
          <a:xfrm flipH="1" rot="-5400000">
            <a:off x="3065263" y="3065025"/>
            <a:ext cx="867600" cy="752400"/>
          </a:xfrm>
          <a:prstGeom prst="bentConnector2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oval"/>
          </a:ln>
        </p:spPr>
      </p:cxnSp>
      <p:sp>
        <p:nvSpPr>
          <p:cNvPr id="317" name="Google Shape;317;p43"/>
          <p:cNvSpPr txBox="1"/>
          <p:nvPr/>
        </p:nvSpPr>
        <p:spPr>
          <a:xfrm>
            <a:off x="947538" y="1795016"/>
            <a:ext cx="21753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2"/>
                </a:solidFill>
              </a:rPr>
              <a:t>H|ψ₀⟩ = E₀|ψ₀⟩</a:t>
            </a:r>
            <a:r>
              <a:rPr lang="en" sz="100">
                <a:solidFill>
                  <a:schemeClr val="lt2"/>
                </a:solidFill>
              </a:rPr>
              <a:t> </a:t>
            </a:r>
            <a:endParaRPr sz="200">
              <a:solidFill>
                <a:schemeClr val="lt2"/>
              </a:solidFill>
              <a:latin typeface="Coda"/>
              <a:ea typeface="Coda"/>
              <a:cs typeface="Coda"/>
              <a:sym typeface="Coda"/>
            </a:endParaRPr>
          </a:p>
        </p:txBody>
      </p:sp>
      <p:cxnSp>
        <p:nvCxnSpPr>
          <p:cNvPr id="318" name="Google Shape;318;p43"/>
          <p:cNvCxnSpPr>
            <a:stCxn id="317" idx="2"/>
            <a:endCxn id="315" idx="0"/>
          </p:cNvCxnSpPr>
          <p:nvPr/>
        </p:nvCxnSpPr>
        <p:spPr>
          <a:xfrm flipH="1" rot="-5400000">
            <a:off x="1902438" y="2587766"/>
            <a:ext cx="2661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oval"/>
          </a:ln>
        </p:spPr>
      </p:cxnSp>
      <p:sp>
        <p:nvSpPr>
          <p:cNvPr id="319" name="Google Shape;319;p43"/>
          <p:cNvSpPr txBox="1"/>
          <p:nvPr/>
        </p:nvSpPr>
        <p:spPr>
          <a:xfrm>
            <a:off x="1827450" y="4158425"/>
            <a:ext cx="590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Assistant Medium"/>
                <a:ea typeface="Assistant Medium"/>
                <a:cs typeface="Assistant Medium"/>
                <a:sym typeface="Assistant Medium"/>
              </a:rPr>
              <a:t>La ferropénica es falta de hierro, no un hemo defectuoso: el hemo es donde esta química se hace visible.</a:t>
            </a:r>
            <a:endParaRPr>
              <a:solidFill>
                <a:schemeClr val="dk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/>
              <a:t>De clasificar a simular: VQE en la molécula</a:t>
            </a:r>
            <a:endParaRPr sz="2900"/>
          </a:p>
        </p:txBody>
      </p:sp>
      <p:pic>
        <p:nvPicPr>
          <p:cNvPr id="325" name="Google Shape;32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78875"/>
            <a:ext cx="8839200" cy="1106082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44"/>
          <p:cNvSpPr txBox="1"/>
          <p:nvPr/>
        </p:nvSpPr>
        <p:spPr>
          <a:xfrm>
            <a:off x="815550" y="2881650"/>
            <a:ext cx="6265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Assistant SemiBold"/>
                <a:ea typeface="Assistant SemiBold"/>
                <a:cs typeface="Assistant SemiBold"/>
                <a:sym typeface="Assistant SemiBold"/>
              </a:rPr>
              <a:t>ΔE = E_sintética − E_defectuosa</a:t>
            </a:r>
            <a:endParaRPr sz="2000">
              <a:solidFill>
                <a:schemeClr val="dk2"/>
              </a:solidFill>
              <a:latin typeface="Assistant SemiBold"/>
              <a:ea typeface="Assistant SemiBold"/>
              <a:cs typeface="Assistant SemiBold"/>
              <a:sym typeface="Assistant SemiBold"/>
            </a:endParaRPr>
          </a:p>
        </p:txBody>
      </p:sp>
      <p:sp>
        <p:nvSpPr>
          <p:cNvPr id="327" name="Google Shape;327;p44"/>
          <p:cNvSpPr txBox="1"/>
          <p:nvPr/>
        </p:nvSpPr>
        <p:spPr>
          <a:xfrm>
            <a:off x="943975" y="3579975"/>
            <a:ext cx="4782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>
                <a:solidFill>
                  <a:srgbClr val="D8DDE6"/>
                </a:solidFill>
                <a:latin typeface="Assistant Medium"/>
                <a:ea typeface="Assistant Medium"/>
                <a:cs typeface="Assistant Medium"/>
                <a:sym typeface="Assistant Medium"/>
              </a:rPr>
              <a:t>ΔE &lt; 0: configuración más estable. </a:t>
            </a:r>
            <a:endParaRPr>
              <a:latin typeface="Assistant Medium"/>
              <a:ea typeface="Assistant Medium"/>
              <a:cs typeface="Assistant Medium"/>
              <a:sym typeface="Assistant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5"/>
          <p:cNvSpPr txBox="1"/>
          <p:nvPr>
            <p:ph type="title"/>
          </p:nvPr>
        </p:nvSpPr>
        <p:spPr>
          <a:xfrm>
            <a:off x="2135550" y="2523293"/>
            <a:ext cx="4872900" cy="10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/>
              <a:t>Demo 3. VQE y ΔE</a:t>
            </a:r>
            <a:endParaRPr sz="45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26" y="758325"/>
            <a:ext cx="3114473" cy="17517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46"/>
          <p:cNvSpPr txBox="1"/>
          <p:nvPr/>
        </p:nvSpPr>
        <p:spPr>
          <a:xfrm>
            <a:off x="2980513" y="4066950"/>
            <a:ext cx="4536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2DD4BF"/>
                </a:solidFill>
                <a:latin typeface="Coda"/>
                <a:ea typeface="Coda"/>
                <a:cs typeface="Coda"/>
                <a:sym typeface="Coda"/>
              </a:rPr>
              <a:t>ΔE = [__ Hartree]</a:t>
            </a:r>
            <a:r>
              <a:rPr lang="en" sz="900">
                <a:solidFill>
                  <a:schemeClr val="lt1"/>
                </a:solidFill>
                <a:latin typeface="Coda"/>
                <a:ea typeface="Coda"/>
                <a:cs typeface="Coda"/>
                <a:sym typeface="Coda"/>
              </a:rPr>
              <a:t> </a:t>
            </a:r>
            <a:endParaRPr sz="1200">
              <a:latin typeface="Coda"/>
              <a:ea typeface="Coda"/>
              <a:cs typeface="Coda"/>
              <a:sym typeface="Coda"/>
            </a:endParaRPr>
          </a:p>
        </p:txBody>
      </p:sp>
      <p:pic>
        <p:nvPicPr>
          <p:cNvPr id="339" name="Google Shape;339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1949" y="2882775"/>
            <a:ext cx="3296175" cy="97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45870" y="2846137"/>
            <a:ext cx="3489830" cy="105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7"/>
          <p:cNvSpPr txBox="1"/>
          <p:nvPr>
            <p:ph type="title"/>
          </p:nvPr>
        </p:nvSpPr>
        <p:spPr>
          <a:xfrm>
            <a:off x="3844375" y="1723725"/>
            <a:ext cx="4586400" cy="1163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4</a:t>
            </a:r>
            <a:endParaRPr/>
          </a:p>
        </p:txBody>
      </p:sp>
      <p:sp>
        <p:nvSpPr>
          <p:cNvPr id="346" name="Google Shape;346;p47"/>
          <p:cNvSpPr txBox="1"/>
          <p:nvPr>
            <p:ph idx="1" type="subTitle"/>
          </p:nvPr>
        </p:nvSpPr>
        <p:spPr>
          <a:xfrm>
            <a:off x="3844375" y="2922675"/>
            <a:ext cx="45864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Visor Molécular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8"/>
          <p:cNvSpPr txBox="1"/>
          <p:nvPr/>
        </p:nvSpPr>
        <p:spPr>
          <a:xfrm>
            <a:off x="677725" y="876200"/>
            <a:ext cx="7977900" cy="28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accent2"/>
                </a:solidFill>
                <a:latin typeface="Assistant Medium"/>
                <a:ea typeface="Assistant Medium"/>
                <a:cs typeface="Assistant Medium"/>
                <a:sym typeface="Assistant Medium"/>
              </a:rPr>
              <a:t>Tres ideas para llevar </a:t>
            </a:r>
            <a:endParaRPr sz="1900">
              <a:solidFill>
                <a:schemeClr val="accent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accent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900"/>
              <a:buFont typeface="Assistant Medium"/>
              <a:buAutoNum type="arabicPeriod"/>
            </a:pPr>
            <a:r>
              <a:rPr lang="en" sz="1900">
                <a:solidFill>
                  <a:schemeClr val="accent2"/>
                </a:solidFill>
                <a:latin typeface="Assistant Medium"/>
                <a:ea typeface="Assistant Medium"/>
                <a:cs typeface="Assistant Medium"/>
                <a:sym typeface="Assistant Medium"/>
              </a:rPr>
              <a:t>El entrelazamiento como superpoder analítico </a:t>
            </a:r>
            <a:endParaRPr sz="1900">
              <a:solidFill>
                <a:schemeClr val="accent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accent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900"/>
              <a:buFont typeface="Assistant Medium"/>
              <a:buAutoNum type="arabicPeriod"/>
            </a:pPr>
            <a:r>
              <a:rPr lang="en" sz="1900">
                <a:solidFill>
                  <a:schemeClr val="accent2"/>
                </a:solidFill>
                <a:latin typeface="Assistant Medium"/>
                <a:ea typeface="Assistant Medium"/>
                <a:cs typeface="Assistant Medium"/>
                <a:sym typeface="Assistant Medium"/>
              </a:rPr>
              <a:t> La era híbrida (NISQ) como puente pragmático Hoy sirven para aprender y prototipar, sin ventaja demostrada </a:t>
            </a:r>
            <a:endParaRPr sz="1900">
              <a:solidFill>
                <a:schemeClr val="accent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accent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900"/>
              <a:buFont typeface="Assistant Medium"/>
              <a:buAutoNum type="arabicPeriod"/>
            </a:pPr>
            <a:r>
              <a:rPr lang="en" sz="1900">
                <a:solidFill>
                  <a:schemeClr val="accent2"/>
                </a:solidFill>
                <a:latin typeface="Assistant Medium"/>
                <a:ea typeface="Assistant Medium"/>
                <a:cs typeface="Assistant Medium"/>
                <a:sym typeface="Assistant Medium"/>
              </a:rPr>
              <a:t> De la computación que calcula a la computación que imita a la naturaleza </a:t>
            </a:r>
            <a:endParaRPr sz="1900">
              <a:solidFill>
                <a:schemeClr val="accent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Google Shape;35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3975" y="533000"/>
            <a:ext cx="4009413" cy="4838702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49"/>
          <p:cNvSpPr txBox="1"/>
          <p:nvPr/>
        </p:nvSpPr>
        <p:spPr>
          <a:xfrm>
            <a:off x="619825" y="1805125"/>
            <a:ext cx="3000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dk2"/>
                </a:solidFill>
                <a:latin typeface="Assistant Medium"/>
                <a:ea typeface="Assistant Medium"/>
                <a:cs typeface="Assistant Medium"/>
                <a:sym typeface="Assistant Medium"/>
              </a:rPr>
              <a:t>¿Preguntas?</a:t>
            </a:r>
            <a:endParaRPr sz="3200">
              <a:solidFill>
                <a:schemeClr val="dk2"/>
              </a:solidFill>
              <a:latin typeface="Assistant Medium"/>
              <a:ea typeface="Assistant Medium"/>
              <a:cs typeface="Assistant Medium"/>
              <a:sym typeface="Assistant Medium"/>
            </a:endParaRPr>
          </a:p>
        </p:txBody>
      </p:sp>
      <p:sp>
        <p:nvSpPr>
          <p:cNvPr id="358" name="Google Shape;358;p49"/>
          <p:cNvSpPr txBox="1"/>
          <p:nvPr/>
        </p:nvSpPr>
        <p:spPr>
          <a:xfrm>
            <a:off x="391475" y="4480175"/>
            <a:ext cx="51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rPr>
              <a:t>Gracias · todo el código está en el repositorio</a:t>
            </a:r>
            <a:r>
              <a:rPr lang="en" sz="200">
                <a:solidFill>
                  <a:schemeClr val="lt2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endParaRPr sz="500">
              <a:solidFill>
                <a:schemeClr val="lt2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Quantum Computing Major for College by Slidesgo">
  <a:themeElements>
    <a:clrScheme name="Simple Light">
      <a:dk1>
        <a:srgbClr val="FFFFE9"/>
      </a:dk1>
      <a:lt1>
        <a:srgbClr val="000000"/>
      </a:lt1>
      <a:dk2>
        <a:srgbClr val="D1E6F3"/>
      </a:dk2>
      <a:lt2>
        <a:srgbClr val="E6FFE6"/>
      </a:lt2>
      <a:accent1>
        <a:srgbClr val="BAC8D3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E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